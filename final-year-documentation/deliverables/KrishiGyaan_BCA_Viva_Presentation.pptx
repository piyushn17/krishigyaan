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dd3062d34a44e4" /><Relationship Type="http://schemas.openxmlformats.org/officeDocument/2006/relationships/extended-properties" Target="/docProps/app.xml" Id="R7509b1e9065d4876" /><Relationship Type="http://schemas.openxmlformats.org/officeDocument/2006/relationships/officeDocument" Target="/ppt/presentation.xml" Id="R0ee69cbf57b142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b4c01b01bb4aef"/>
  </p:sldMasterIdLst>
  <p:notesMasterIdLst>
    <p:notesMasterId xmlns:r="http://schemas.openxmlformats.org/officeDocument/2006/relationships" r:id="Rab84196d21c4496b"/>
  </p:notesMasterIdLst>
  <p:sldIdLst>
    <p:sldId xmlns:r="http://schemas.openxmlformats.org/officeDocument/2006/relationships" id="256" r:id="Rb6e21d1a7f814cf5"/>
    <p:sldId xmlns:r="http://schemas.openxmlformats.org/officeDocument/2006/relationships" id="257" r:id="R53b6a4f9a0444e4c"/>
    <p:sldId xmlns:r="http://schemas.openxmlformats.org/officeDocument/2006/relationships" id="258" r:id="R59bbec3d6cf8417c"/>
    <p:sldId xmlns:r="http://schemas.openxmlformats.org/officeDocument/2006/relationships" id="259" r:id="R4459e3c8b54f4f71"/>
    <p:sldId xmlns:r="http://schemas.openxmlformats.org/officeDocument/2006/relationships" id="260" r:id="Rb7eca1b6b3f44aac"/>
    <p:sldId xmlns:r="http://schemas.openxmlformats.org/officeDocument/2006/relationships" id="261" r:id="R3582c1bcf8a043f0"/>
    <p:sldId xmlns:r="http://schemas.openxmlformats.org/officeDocument/2006/relationships" id="262" r:id="R2165781ba4f14682"/>
    <p:sldId xmlns:r="http://schemas.openxmlformats.org/officeDocument/2006/relationships" id="263" r:id="R25d1506156574444"/>
    <p:sldId xmlns:r="http://schemas.openxmlformats.org/officeDocument/2006/relationships" id="264" r:id="Rb4eb4d8952584fc5"/>
    <p:sldId xmlns:r="http://schemas.openxmlformats.org/officeDocument/2006/relationships" id="265" r:id="Rc6bada1f99044fca"/>
    <p:sldId xmlns:r="http://schemas.openxmlformats.org/officeDocument/2006/relationships" id="266" r:id="R78a10b0570db4bb4"/>
    <p:sldId xmlns:r="http://schemas.openxmlformats.org/officeDocument/2006/relationships" id="267" r:id="Rf499c14f8d2145bb"/>
    <p:sldId xmlns:r="http://schemas.openxmlformats.org/officeDocument/2006/relationships" id="268" r:id="Rcb99e016e81a4b10"/>
    <p:sldId xmlns:r="http://schemas.openxmlformats.org/officeDocument/2006/relationships" id="269" r:id="Raaad2bf048cb42b4"/>
    <p:sldId xmlns:r="http://schemas.openxmlformats.org/officeDocument/2006/relationships" id="270" r:id="R7a858a1c35b4433d"/>
    <p:sldId xmlns:r="http://schemas.openxmlformats.org/officeDocument/2006/relationships" id="271" r:id="Rde8169a1c1f6428b"/>
    <p:sldId xmlns:r="http://schemas.openxmlformats.org/officeDocument/2006/relationships" id="272" r:id="Re4776680774c4ebc"/>
    <p:sldId xmlns:r="http://schemas.openxmlformats.org/officeDocument/2006/relationships" id="273" r:id="R252a783b8c9641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b4c01b01bb4aef" /><Relationship Type="http://schemas.openxmlformats.org/officeDocument/2006/relationships/theme" Target="/ppt/theme/theme1.xml" Id="R090e1a7827f14ff7" /><Relationship Type="http://schemas.openxmlformats.org/officeDocument/2006/relationships/notesMaster" Target="/ppt/notesMasters/notesMaster1.xml" Id="Rab84196d21c4496b" /><Relationship Type="http://schemas.openxmlformats.org/officeDocument/2006/relationships/presProps" Target="/ppt/presProps.xml" Id="R9524f4ec5ee84b38" /><Relationship Type="http://schemas.openxmlformats.org/officeDocument/2006/relationships/viewProps" Target="/ppt/viewProps.xml" Id="Rae64151e97d645a7" /><Relationship Type="http://schemas.openxmlformats.org/officeDocument/2006/relationships/tableStyles" Target="/ppt/tableStyles.xml" Id="R71864d06f8f74c90" /><Relationship Type="http://schemas.openxmlformats.org/officeDocument/2006/relationships/slide" Target="/ppt/slides/slide1.xml" Id="Rb6e21d1a7f814cf5" /><Relationship Type="http://schemas.openxmlformats.org/officeDocument/2006/relationships/slide" Target="/ppt/slides/slide2.xml" Id="R53b6a4f9a0444e4c" /><Relationship Type="http://schemas.openxmlformats.org/officeDocument/2006/relationships/slide" Target="/ppt/slides/slide3.xml" Id="R59bbec3d6cf8417c" /><Relationship Type="http://schemas.openxmlformats.org/officeDocument/2006/relationships/slide" Target="/ppt/slides/slide4.xml" Id="R4459e3c8b54f4f71" /><Relationship Type="http://schemas.openxmlformats.org/officeDocument/2006/relationships/slide" Target="/ppt/slides/slide5.xml" Id="Rb7eca1b6b3f44aac" /><Relationship Type="http://schemas.openxmlformats.org/officeDocument/2006/relationships/slide" Target="/ppt/slides/slide6.xml" Id="R3582c1bcf8a043f0" /><Relationship Type="http://schemas.openxmlformats.org/officeDocument/2006/relationships/slide" Target="/ppt/slides/slide7.xml" Id="R2165781ba4f14682" /><Relationship Type="http://schemas.openxmlformats.org/officeDocument/2006/relationships/slide" Target="/ppt/slides/slide8.xml" Id="R25d1506156574444" /><Relationship Type="http://schemas.openxmlformats.org/officeDocument/2006/relationships/slide" Target="/ppt/slides/slide9.xml" Id="Rb4eb4d8952584fc5" /><Relationship Type="http://schemas.openxmlformats.org/officeDocument/2006/relationships/slide" Target="/ppt/slides/slide10.xml" Id="Rc6bada1f99044fca" /><Relationship Type="http://schemas.openxmlformats.org/officeDocument/2006/relationships/slide" Target="/ppt/slides/slide11.xml" Id="R78a10b0570db4bb4" /><Relationship Type="http://schemas.openxmlformats.org/officeDocument/2006/relationships/slide" Target="/ppt/slides/slide12.xml" Id="Rf499c14f8d2145bb" /><Relationship Type="http://schemas.openxmlformats.org/officeDocument/2006/relationships/slide" Target="/ppt/slides/slide13.xml" Id="Rcb99e016e81a4b10" /><Relationship Type="http://schemas.openxmlformats.org/officeDocument/2006/relationships/slide" Target="/ppt/slides/slide14.xml" Id="Raaad2bf048cb42b4" /><Relationship Type="http://schemas.openxmlformats.org/officeDocument/2006/relationships/slide" Target="/ppt/slides/slide15.xml" Id="R7a858a1c35b4433d" /><Relationship Type="http://schemas.openxmlformats.org/officeDocument/2006/relationships/slide" Target="/ppt/slides/slide16.xml" Id="Rde8169a1c1f6428b" /><Relationship Type="http://schemas.openxmlformats.org/officeDocument/2006/relationships/slide" Target="/ppt/slides/slide17.xml" Id="Re4776680774c4ebc" /><Relationship Type="http://schemas.openxmlformats.org/officeDocument/2006/relationships/slide" Target="/ppt/slides/slide18.xml" Id="R252a783b8c9641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465025a769440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ce3941611a4dd5" /><Relationship Type="http://schemas.openxmlformats.org/officeDocument/2006/relationships/notesMaster" Target="/ppt/notesMasters/notesMaster1.xml" Id="R81629bd54c5446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d41eba74504000" /><Relationship Type="http://schemas.openxmlformats.org/officeDocument/2006/relationships/notesMaster" Target="/ppt/notesMasters/notesMaster1.xml" Id="Rad86ca3f4dae4e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cdd774bf34dcc" /><Relationship Type="http://schemas.openxmlformats.org/officeDocument/2006/relationships/notesMaster" Target="/ppt/notesMasters/notesMaster1.xml" Id="Rce9740cbdb5743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958bfc9e494660" /><Relationship Type="http://schemas.openxmlformats.org/officeDocument/2006/relationships/notesMaster" Target="/ppt/notesMasters/notesMaster1.xml" Id="R114c73cd4d6141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023ee3ba1a42eb" /><Relationship Type="http://schemas.openxmlformats.org/officeDocument/2006/relationships/notesMaster" Target="/ppt/notesMasters/notesMaster1.xml" Id="R04ebf87791d344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7bd48016af4408" /><Relationship Type="http://schemas.openxmlformats.org/officeDocument/2006/relationships/notesMaster" Target="/ppt/notesMasters/notesMaster1.xml" Id="R417f53d107494d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daca78368e4ee0" /><Relationship Type="http://schemas.openxmlformats.org/officeDocument/2006/relationships/notesMaster" Target="/ppt/notesMasters/notesMaster1.xml" Id="Rc1112b3226164c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69ea1c5249489a" /><Relationship Type="http://schemas.openxmlformats.org/officeDocument/2006/relationships/notesMaster" Target="/ppt/notesMasters/notesMaster1.xml" Id="R9f8b1fbe345247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a2444cee394573" /><Relationship Type="http://schemas.openxmlformats.org/officeDocument/2006/relationships/notesMaster" Target="/ppt/notesMasters/notesMaster1.xml" Id="R04f5eff3cd5b4e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4a8f153e5e492c" /><Relationship Type="http://schemas.openxmlformats.org/officeDocument/2006/relationships/notesMaster" Target="/ppt/notesMasters/notesMaster1.xml" Id="R32ffc2ff2aba41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b5b6df6bfa42a2" /><Relationship Type="http://schemas.openxmlformats.org/officeDocument/2006/relationships/notesMaster" Target="/ppt/notesMasters/notesMaster1.xml" Id="R29dc4afe18b54b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04ebadab424bd1" /><Relationship Type="http://schemas.openxmlformats.org/officeDocument/2006/relationships/notesMaster" Target="/ppt/notesMasters/notesMaster1.xml" Id="Re02e30f593094b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f8444a511949bf" /><Relationship Type="http://schemas.openxmlformats.org/officeDocument/2006/relationships/notesMaster" Target="/ppt/notesMasters/notesMaster1.xml" Id="Ref6502a208a749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48d2b50dac4b78" /><Relationship Type="http://schemas.openxmlformats.org/officeDocument/2006/relationships/notesMaster" Target="/ppt/notesMasters/notesMaster1.xml" Id="Rc4a47782074548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4315b8ead740f1" /><Relationship Type="http://schemas.openxmlformats.org/officeDocument/2006/relationships/notesMaster" Target="/ppt/notesMasters/notesMaster1.xml" Id="R8c0601c908e240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f751ac586e4742" /><Relationship Type="http://schemas.openxmlformats.org/officeDocument/2006/relationships/notesMaster" Target="/ppt/notesMasters/notesMaster1.xml" Id="R9d9e76074f5341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f5af77c57e4f7b" /><Relationship Type="http://schemas.openxmlformats.org/officeDocument/2006/relationships/notesMaster" Target="/ppt/notesMasters/notesMaster1.xml" Id="Raa5686e064f647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2a226e0d2c47a8" /><Relationship Type="http://schemas.openxmlformats.org/officeDocument/2006/relationships/notesMaster" Target="/ppt/notesMasters/notesMaster1.xml" Id="R903fb377fd5549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671734e484b0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2e420bc553946e7" /><Relationship Type="http://schemas.openxmlformats.org/officeDocument/2006/relationships/slideLayout" Target="/ppt/slideLayouts/slideLayout2.xml" Id="Ra84f159ef9e048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4f159ef9e048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0652c5283146f5" /><Relationship Type="http://schemas.openxmlformats.org/officeDocument/2006/relationships/notesSlide" Target="/ppt/notesSlides/notesSlide1.xml" Id="R1f56a505faa446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258292b45d4dc1" /><Relationship Type="http://schemas.openxmlformats.org/officeDocument/2006/relationships/notesSlide" Target="/ppt/notesSlides/notesSlide2.xml" Id="Re5de1d39396a4f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6574fc681542ef" /><Relationship Type="http://schemas.openxmlformats.org/officeDocument/2006/relationships/notesSlide" Target="/ppt/notesSlides/notesSlide3.xml" Id="Rb93ea7aeac0c4e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1d64bdbf62474f" /><Relationship Type="http://schemas.openxmlformats.org/officeDocument/2006/relationships/notesSlide" Target="/ppt/notesSlides/notesSlide4.xml" Id="R20fd500aed7548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156b0180764522" /><Relationship Type="http://schemas.openxmlformats.org/officeDocument/2006/relationships/image" Target="/ppt/media/image.png" Id="R1319d8b30d2e442c" /><Relationship Type="http://schemas.openxmlformats.org/officeDocument/2006/relationships/notesSlide" Target="/ppt/notesSlides/notesSlide5.xml" Id="R2b623b73e2894f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e340ac864a4634" /><Relationship Type="http://schemas.openxmlformats.org/officeDocument/2006/relationships/notesSlide" Target="/ppt/notesSlides/notesSlide6.xml" Id="Rb4faabbb84d041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92b751f68b4b20" /><Relationship Type="http://schemas.openxmlformats.org/officeDocument/2006/relationships/image" Target="/ppt/media/image2.png" Id="Rba541ae34aae4f8e" /><Relationship Type="http://schemas.openxmlformats.org/officeDocument/2006/relationships/notesSlide" Target="/ppt/notesSlides/notesSlide7.xml" Id="Rf180266fb8f241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6434b14a414a71" /><Relationship Type="http://schemas.openxmlformats.org/officeDocument/2006/relationships/notesSlide" Target="/ppt/notesSlides/notesSlide8.xml" Id="Rb190f2b393c949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9653f82f554dd9" /><Relationship Type="http://schemas.openxmlformats.org/officeDocument/2006/relationships/notesSlide" Target="/ppt/notesSlides/notesSlide9.xml" Id="R913d16dc55904d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b1be496e2c493f" /><Relationship Type="http://schemas.openxmlformats.org/officeDocument/2006/relationships/image" Target="/ppt/media/image3.png" Id="Rb1bcb96462c24634" /><Relationship Type="http://schemas.openxmlformats.org/officeDocument/2006/relationships/notesSlide" Target="/ppt/notesSlides/notesSlide10.xml" Id="R7c5f2663ea5e41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da4abc416f4f6a" /><Relationship Type="http://schemas.openxmlformats.org/officeDocument/2006/relationships/image" Target="/ppt/media/image4.png" Id="R9e8bdd6525954603" /><Relationship Type="http://schemas.openxmlformats.org/officeDocument/2006/relationships/notesSlide" Target="/ppt/notesSlides/notesSlide11.xml" Id="Rd4579728008242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762c8cc5644cbc" /><Relationship Type="http://schemas.openxmlformats.org/officeDocument/2006/relationships/image" Target="/ppt/media/image5.png" Id="R947aa94f24bd460b" /><Relationship Type="http://schemas.openxmlformats.org/officeDocument/2006/relationships/notesSlide" Target="/ppt/notesSlides/notesSlide12.xml" Id="Rc884763bb2334d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8b144ddce440a1" /><Relationship Type="http://schemas.openxmlformats.org/officeDocument/2006/relationships/image" Target="/ppt/media/image6.png" Id="R4a737ee37036435f" /><Relationship Type="http://schemas.openxmlformats.org/officeDocument/2006/relationships/notesSlide" Target="/ppt/notesSlides/notesSlide13.xml" Id="R46a821e3b1e546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a01c95a2464c5e" /><Relationship Type="http://schemas.openxmlformats.org/officeDocument/2006/relationships/notesSlide" Target="/ppt/notesSlides/notesSlide14.xml" Id="R4e989840ebdf46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d3918ad14f4df1" /><Relationship Type="http://schemas.openxmlformats.org/officeDocument/2006/relationships/notesSlide" Target="/ppt/notesSlides/notesSlide15.xml" Id="Rabadc0ff5ce843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163fabeddf4c52" /><Relationship Type="http://schemas.openxmlformats.org/officeDocument/2006/relationships/notesSlide" Target="/ppt/notesSlides/notesSlide16.xml" Id="Rcd6c1483d4d148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f8e4603b64e49" /><Relationship Type="http://schemas.openxmlformats.org/officeDocument/2006/relationships/notesSlide" Target="/ppt/notesSlides/notesSlide17.xml" Id="Rcf6cf27b8b2245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9d9f03d7664a61" /><Relationship Type="http://schemas.openxmlformats.org/officeDocument/2006/relationships/notesSlide" Target="/ppt/notesSlides/notesSlide18.xml" Id="R2860114bb3e948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D958F-E853-48B4-9730-782AE76A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F3B76F31-663A-46D3-A089-E0D5C5F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37B9973D-321A-458B-BFEC-0A3233C0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BCA FINAL YEAR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17558-7B6B-454D-8ABE-A7B4D023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KrishiGyaan makes agricultural support usable across language, connectivity, and service boundaries.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8090B-67DB-4582-9777-CDFD8BC7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E7C9B-7F0A-4209-B290-52D6B2FC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21688-250A-4521-AE35-BB2F3E4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AI-assisted multilingual agricultural support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C884A-E35B-4A87-AD43-A18478A9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7429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EAF5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6CF6A-3473-4D7B-9B7B-C9B98361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Prepared by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6A334-849D-440A-912B-73E62F5E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Piyush Nath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77B89-5F11-48DD-806A-E3554845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5715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Enrollment No.  ____________________</a:t>
            </a:r>
          </a:p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Institution  ________________________</a:t>
            </a:r>
          </a:p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Project Guide  _____________________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69BF3-689C-4A6A-8377-53B74E32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66950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3A"/>
          </a:solidFill>
          <a:ln xmlns:a="http://schemas.openxmlformats.org/drawingml/2006/main" w="9525">
            <a:solidFill>
              <a:srgbClr val="176B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906A0-3566-4E98-814F-530EE00A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19375"/>
            <a:ext cx="17621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DATA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ACCESS</a:t>
            </a:r>
          </a:p>
        </p:txBody>
      </p:sp>
    </p:spTree>
    <p:extLst>
      <p:ext uri="{BB962C8B-B14F-4D97-AF65-F5344CB8AC3E}">
        <p14:creationId xmlns:p14="http://schemas.microsoft.com/office/powerpoint/2010/main" val="3771124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95E20-3817-4BD9-835A-CCC72B3D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621A85B-1E4B-4394-AE2C-A3F5DA7D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8092C488-3B2C-43C6-9087-6D0FA519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4D38D-ACE9-4872-AC7B-18F6B56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Farmers face one decision journey spread across many disconnected systems.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58CE8-16A3-4DAE-981A-6AAF3BE2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2F5DE-B51C-456C-A020-C7E62ADF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D38FC-135F-4E27-B69C-615B0AA0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EABB7-4E62-408B-B9BA-0E12466B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Fragmented 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78F65-E8F5-49D0-9C5A-DCA33003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Weather, disease, schemes, and soil advice are usually accessed separately.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9D24C-55DF-4D55-83D7-A5D07EE7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03A0B-5817-4869-8860-8EA8F1A2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Language friction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89251-E061-4B74-95EF-81DFF075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English-first interfaces reduce comprehension and confidence for regional-language users.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B7E96-260F-4087-BE1F-E0D1AB5D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37FCB-2DFE-4C09-B1D4-041BECEF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Connectivity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99051-4F38-4632-A973-7BCB5EC7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Live-only applications lose practical value when rural networks become unstable.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D1743-E0B7-413B-A025-5E347B7F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E"/>
          </a:solidFill>
          <a:ln xmlns:a="http://schemas.openxmlformats.org/drawingml/2006/main" w="9525">
            <a:solidFill>
              <a:srgbClr val="A3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F459A-496B-4E64-9A77-A65F9821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33A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33A32"/>
                </a:solidFill>
                <a:latin typeface="Aptos"/>
                <a:ea typeface="Aptos"/>
                <a:cs typeface="Aptos"/>
              </a:rPr>
              <a:t>Trust and 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F2A74-4953-4887-ABAF-DACB5976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Raw AI or diagnosis output needs validation, context, and clear failure behaviour.</a:t>
            </a:r>
          </a:p>
        </p:txBody>
      </p:sp>
    </p:spTree>
    <p:extLst>
      <p:ext uri="{BB962C8B-B14F-4D97-AF65-F5344CB8AC3E}">
        <p14:creationId xmlns:p14="http://schemas.microsoft.com/office/powerpoint/2010/main" val="14094616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773688-891B-444F-83D7-ACC8229A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5E9C2BA6-245A-4C72-A147-5648F436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A57F21E2-689C-4EE4-83B5-2230611B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2A136-AB0C-47D6-9D0D-7D4A8B36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Six verifiable objectives convert the agricultural problem into a software engineering project.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90D35-37EB-4F7D-94E0-E87DDD3F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4A517-ECDE-465D-B1AA-0B046B02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97E5C-0D8C-49B5-9CB4-2334491A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CA942-B660-44BA-B520-DC337925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62175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B42F0-347C-4AAB-86C8-40A9980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162175"/>
            <a:ext cx="855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Secure farmer registration and password-based 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CC5F2-3A29-41AF-A69A-18514EE3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76525"/>
            <a:ext cx="878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2E334-91BC-4174-8E07-AE886162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90825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54FB6-7697-4060-8040-0BCD90A7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790825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Multilingual, voice-assisted interaction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18007-A0F9-4600-9958-A0555FA7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05175"/>
            <a:ext cx="8324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CE0CA-18BE-4AE3-9721-170C8695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19475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B4513-BB7D-4F67-8A22-35F84854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19475"/>
            <a:ext cx="763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AI advisory with primary and fallback providers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24A77-2EAC-4FC9-BEFD-5BBC6728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933825"/>
            <a:ext cx="7867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6FD70-420A-4AA4-93C6-C2DFBCC1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048125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0026E-A734-4B90-B6A1-DC1782E4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48125"/>
            <a:ext cx="718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Crop, plant, soil, weather, and scheme workflows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AFD97-A68E-4502-9C43-D0A6A6E5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562475"/>
            <a:ext cx="7410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2DBCF-F032-41D3-B108-C5FD9CCD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676775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36B99-C3A0-4F87-956F-35BC5FA8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676775"/>
            <a:ext cx="672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Offline application shell and last-result restoration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D484D-7401-42DA-86A3-A6D7C012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695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CE3D3-1E5D-4C42-B049-982AF1C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05425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1EF35E-75F3-4F27-9276-28ACEB9B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305425"/>
            <a:ext cx="6267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Serverless deployment with protected environment secrets</a:t>
            </a:r>
          </a:p>
        </p:txBody>
      </p:sp>
    </p:spTree>
    <p:extLst>
      <p:ext uri="{BB962C8B-B14F-4D97-AF65-F5344CB8AC3E}">
        <p14:creationId xmlns:p14="http://schemas.microsoft.com/office/powerpoint/2010/main" val="11381683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C6E98D-F288-48B7-AD3C-A67D781E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8CEB0D20-630A-4CE8-9B6A-C3B135D5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20AB9244-9ABA-4F2C-9BE1-2E69B744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PRODUCT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E81CC-D59D-486F-9DEF-E32BC45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One authenticated dashboard connects the complete farmer support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1BCED-8BAE-4D06-AF33-8BC0B132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6C8CC-9415-47A5-8863-3A44F2E5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378F6-0097-42BC-8B9D-DC0B82D3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FC497-C5D9-4E58-A69C-55CDD148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146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4C413-CFA0-4436-B2DE-B52281F8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575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FE746-07DB-49F9-ADBD-CA28C0B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67050"/>
            <a:ext cx="33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69E84-923F-47C1-AF5F-DB1C817F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622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C6AB1-442F-4456-BC64-4CE9E5B7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146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90517-CB10-4A51-9ED3-EA46D051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575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Weather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B2E74-E70B-4DF6-B676-89012FB5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33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A2F9F-7599-4402-AEA1-AD7BB706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783DB-AC30-4DE4-A920-1BF96533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146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5BB3F-6F6B-4466-8EBA-9F8C11DF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575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Soil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7FA7C-A8C0-4550-85BD-45EC483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67050"/>
            <a:ext cx="33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0CF0E-9C36-47D2-92A3-4FE4D566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622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2AEEB-5F23-4845-AC13-165E89AD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CB756-CFC7-4C62-AC2D-62E51B11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Crop / Plant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F2D25-9A19-460F-ACC8-4451A8AE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67050"/>
            <a:ext cx="33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3E5E6-001B-4E08-B4BD-A1BFD3ED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622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D05B2-9B35-4C75-8E41-72BAA28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146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7B7B81-9ED0-4A3C-9BFA-5C791E74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575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Schemes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927BB7-4674-4A6D-A36B-FAE47971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067050"/>
            <a:ext cx="33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45FA4-734C-45B3-8962-33EC40F2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62250"/>
            <a:ext cx="152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3A"/>
          </a:solidFill>
          <a:ln xmlns:a="http://schemas.openxmlformats.org/drawingml/2006/main" w="9525">
            <a:solidFill>
              <a:srgbClr val="176B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39B3CC-298B-449F-889C-7CF8BE85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146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CFFBEC-9F2A-4851-9866-33D2EF21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575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KrishiBaba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BFF730-10F6-48FE-820E-31C649D3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Each service uses the same farmer profile, selected language, and protected API boundary.</a:t>
            </a:r>
          </a:p>
        </p:txBody>
      </p:sp>
    </p:spTree>
    <p:extLst>
      <p:ext uri="{BB962C8B-B14F-4D97-AF65-F5344CB8AC3E}">
        <p14:creationId xmlns:p14="http://schemas.microsoft.com/office/powerpoint/2010/main" val="9229576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E52D45-BA5D-4595-90C7-734D51D2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6FE7AB47-FB0E-405A-A364-18C23E27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AB67251D-FE45-48B9-BA23-63E7DEBC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377DC-5AA3-48A0-8D01-0523FC38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The system isolates user experience, server-side secrets, persistent data, and external intelligence.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CC9E4-F303-42A1-AAE3-E4C095C5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16209-3822-4BAB-A0AE-8927F9C8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9d8b30d2e442c"/>
          <a:stretch xmlns:a="http://schemas.openxmlformats.org/drawingml/2006/main"/>
        </p:blipFill>
        <p:spPr>
          <a:xfrm xmlns:a="http://schemas.openxmlformats.org/drawingml/2006/main">
            <a:off x="1348129" y="1952625"/>
            <a:ext cx="6923991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8FC9C-2193-4625-9203-E4FDA9E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476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2A"/>
          </a:solidFill>
          <a:ln xmlns:a="http://schemas.openxmlformats.org/drawingml/2006/main" w="9525">
            <a:solidFill>
              <a:srgbClr val="193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C6C10-7D00-473B-A60B-71EFCE6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07FE4-89AE-4139-BB5E-58AD09A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2019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 code never receives MongoDB, Groq, Crop Kindwise, or Plant.id credentials.</a:t>
            </a:r>
          </a:p>
        </p:txBody>
      </p:sp>
    </p:spTree>
    <p:extLst>
      <p:ext uri="{BB962C8B-B14F-4D97-AF65-F5344CB8AC3E}">
        <p14:creationId xmlns:p14="http://schemas.microsoft.com/office/powerpoint/2010/main" val="13301295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FC4F21-4A42-4581-99EB-4B1C9CB0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A8F8875A-900C-4EA3-A8E5-298EE982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05EF1C7-8EC0-4215-82EC-9A02A0B9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41831-DADF-4A27-918D-22B03649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Farmer identity is persisted in MongoDB without storing plaintext passwords.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33B63-5292-45EE-BAF7-5319757E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1AC68-E1A7-4283-862E-F6940549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EBAEC-309C-4039-AB52-4F65CD0B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428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B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57C43-99AF-43FA-8F08-7292DE5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527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7051C-991C-4CF4-9444-DAA5931B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0875"/>
            <a:ext cx="2047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499BD-1635-42AB-8264-93F38F24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38550"/>
            <a:ext cx="2047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Indian mobile number and password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32BD2-7534-4957-92D8-B9099BAE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428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B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0128D-54E0-4EFB-81E8-1160EF1A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527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1E783-26B8-4E59-8208-0974575C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90875"/>
            <a:ext cx="2047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Derive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A521F-EE63-4C7A-830A-220CA21B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38550"/>
            <a:ext cx="2047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PBKDF2-SHA512, random salt, 120,000 iterations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CFC40-4BD3-4E4E-9E6A-BB5108B6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2428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B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E63BB-F306-4C49-B2C5-01845606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527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46059-6FD3-4E8F-B82D-14B75B95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90875"/>
            <a:ext cx="2047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Persist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F27E0-901D-4EED-9412-0CE8E901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38550"/>
            <a:ext cx="2047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Unique mobile index and sanitized farmer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95685-F86D-48D7-946E-8C51A17F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81250"/>
            <a:ext cx="2428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3A"/>
          </a:solidFill>
          <a:ln xmlns:a="http://schemas.openxmlformats.org/drawingml/2006/main" w="9525">
            <a:solidFill>
              <a:srgbClr val="176B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A0005-A0A6-4AE6-A3BD-76AAACB5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5527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4037B-285B-4342-A1D6-D85A4FAB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90875"/>
            <a:ext cx="2047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04BCA-7DE2-48E2-96DE-BD999E40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638550"/>
            <a:ext cx="2047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Timing-safe comparison on every login</a:t>
            </a:r>
          </a:p>
        </p:txBody>
      </p:sp>
    </p:spTree>
    <p:extLst>
      <p:ext uri="{BB962C8B-B14F-4D97-AF65-F5344CB8AC3E}">
        <p14:creationId xmlns:p14="http://schemas.microsoft.com/office/powerpoint/2010/main" val="13599176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144E1F-C4EA-4639-A231-C515028E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54BB21C6-7E59-4748-9EDE-F27078F2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0900D0DB-3269-4340-89B8-6D5308A1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AI RELIABILITY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07196-2A32-41F8-ACD8-D69BA21B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A second Groq configuration reduces the primary model as a single point of failure.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C508F-6524-405E-B1E3-520C1B5F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E00D7-D3B5-4FD3-9837-D066EC3A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41ae34aae4f8e"/>
          <a:stretch xmlns:a="http://schemas.openxmlformats.org/drawingml/2006/main"/>
        </p:blipFill>
        <p:spPr>
          <a:xfrm xmlns:a="http://schemas.openxmlformats.org/drawingml/2006/main">
            <a:off x="1348129" y="1952625"/>
            <a:ext cx="6923991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BCB0B-FD17-42B1-8E8C-D908FD2D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476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2A"/>
          </a:solidFill>
          <a:ln xmlns:a="http://schemas.openxmlformats.org/drawingml/2006/main" w="9525">
            <a:solidFill>
              <a:srgbClr val="193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9475C-0FC0-4FFD-8DC1-6BB9BC78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EFB16-2584-4EE9-97A5-B550ADFD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2019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API returns a combined, readable failure only after both configured providers fail.</a:t>
            </a:r>
          </a:p>
        </p:txBody>
      </p:sp>
    </p:spTree>
    <p:extLst>
      <p:ext uri="{BB962C8B-B14F-4D97-AF65-F5344CB8AC3E}">
        <p14:creationId xmlns:p14="http://schemas.microsoft.com/office/powerpoint/2010/main" val="17019709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82C871-8379-42AA-BE48-DE913A97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B99A2615-53DE-417D-A6EE-9ECB294F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991A3DA4-6048-4D7B-8D2E-E6DEB169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ACCESSIBILITY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B23C7-EC42-450D-96C0-B1E91C19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Language, speech, and persistent preference are part of the interaction model, not add-ons.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B867C-0D2A-448E-896A-1BAC491D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79589-6C7D-40B7-81F4-1E5BEA20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F20C5-11DC-496D-8650-73249C14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5238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EAF5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09F3E-FCDB-45A6-8712-168D0F90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5238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2A"/>
          </a:solidFill>
          <a:ln xmlns:a="http://schemas.openxmlformats.org/drawingml/2006/main" w="9525">
            <a:solidFill>
              <a:srgbClr val="193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96288-819C-4309-B7D5-B0E7FB2E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390CF-7928-44B3-A51C-80E2E878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VOICE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C676C-4E40-4522-B0F7-3F1939EB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58540-732C-4B63-886A-F597FA54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10 language choices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3A30E-EF6E-46AB-8939-AB45E637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DDA69-1040-4DB8-8A33-DB5DF5B2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Static locale dictionaries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D77A2-6DE3-480B-A287-8C2DA0B2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FCAE0-0D20-496F-8851-540E4D33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Dynamic AI response language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C5935-7CD7-46CB-BC54-762AA6AB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F303C-B8DB-44CA-B5F5-63545B25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Manual selection persists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3EDB3-F54F-487D-8576-94038178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38AF6-23FF-420A-8421-4CC650A5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Speech-to-text questions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D4160-74EB-46EC-B7E1-395683CC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5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6640F-E938-4EEE-991D-B65820A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4805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Clicked-line text-to-speech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934F4-8949-4B97-B258-37D439E0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038C0-FC73-4F89-8DA8-141EE037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3860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 mute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2A1AA8-E579-4E0B-BD4B-7678EA15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33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768E40-9C87-46D8-85C1-7CF1025E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2915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 capability fallback</a:t>
            </a:r>
          </a:p>
        </p:txBody>
      </p:sp>
    </p:spTree>
    <p:extLst>
      <p:ext uri="{BB962C8B-B14F-4D97-AF65-F5344CB8AC3E}">
        <p14:creationId xmlns:p14="http://schemas.microsoft.com/office/powerpoint/2010/main" val="18245910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C1AED8-BF59-4F18-A8C7-A6D304B6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38CD3A3A-084D-4AE1-B7CA-9A766305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C726252C-1F58-4EEC-A270-AB0BBCDB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OFFLINE CONTINUITY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D4393-1CA5-4C2D-95C2-01C3CE1D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Offline mode preserves reference value and makes reconnection an explicit user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67FB0-E6FA-4498-B529-D714DEB2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BD412-8428-433C-B166-F12963A4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9F7A1-5C4B-47EA-907D-CD13EB86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9D7CF-95FD-406E-B2EC-56BDBDA6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955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Online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CDA8A-6E7A-40B4-80CD-DAAC5962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1945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Cache application shell and save successful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ED47D-5FF1-4655-ABF3-8977D88D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38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EC1DF-F7AE-495F-93AC-A1B25F5A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24125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BC23C-3771-4347-9A82-4FD68913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955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Network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D7D4A-71F0-4E17-96DD-992AB82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1945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Keep pages available through the service worker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E1445-EAC1-416D-A590-D8974D10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C073A-9C4B-4BFD-932F-AA8F5B65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42928-8045-4424-B98E-AD77D815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955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Offline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CE889-4F58-4E89-B94D-9105B20E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1945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Show the exact last browser snapshot with a timestamp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43EFC-D3B0-4223-8524-5057DA7A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38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70085-917F-4BCA-A282-51F2816F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24125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3A"/>
          </a:solidFill>
          <a:ln xmlns:a="http://schemas.openxmlformats.org/drawingml/2006/main" w="9525">
            <a:solidFill>
              <a:srgbClr val="176B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00E30B-AB2E-4232-8A7F-B0704CB7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955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Connection returns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1A336-2FD7-48DA-9241-54CB5052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1945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Offer Reload or Cancel before restoring live functions</a:t>
            </a:r>
          </a:p>
        </p:txBody>
      </p:sp>
    </p:spTree>
    <p:extLst>
      <p:ext uri="{BB962C8B-B14F-4D97-AF65-F5344CB8AC3E}">
        <p14:creationId xmlns:p14="http://schemas.microsoft.com/office/powerpoint/2010/main" val="16050239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EB0DE6-742A-47C5-AC01-7FD26798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C51522D-8742-445B-BF0A-A53482F4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14F73B26-DC2A-4672-B6B7-DC59BD90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E2E90-436A-402D-AA95-8EC5D640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Persistent farmer identity is separated from logical session, draft, health, and advisory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41332-6CB4-412A-B4D2-CD263F4D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B2A16-E03E-41EE-9921-A3D4C555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cb96462c24634"/>
          <a:stretch xmlns:a="http://schemas.openxmlformats.org/drawingml/2006/main"/>
        </p:blipFill>
        <p:spPr>
          <a:xfrm xmlns:a="http://schemas.openxmlformats.org/drawingml/2006/main">
            <a:off x="1348129" y="1952625"/>
            <a:ext cx="6923991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946C7-5B17-4C76-9307-67AA32B3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476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2A"/>
          </a:solidFill>
          <a:ln xmlns:a="http://schemas.openxmlformats.org/drawingml/2006/main" w="9525">
            <a:solidFill>
              <a:srgbClr val="193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61A72-6337-45A3-99E5-54F0A4BA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20386-195B-496D-AEF1-F985A52C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2019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Only the farmer collection is durable in MongoDB; offline snapshots remain browser-local.</a:t>
            </a:r>
          </a:p>
        </p:txBody>
      </p:sp>
    </p:spTree>
    <p:extLst>
      <p:ext uri="{BB962C8B-B14F-4D97-AF65-F5344CB8AC3E}">
        <p14:creationId xmlns:p14="http://schemas.microsoft.com/office/powerpoint/2010/main" val="857050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508CA8-3C70-4338-9DF8-C679520C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55041EBF-6CE3-4BA1-931E-3AC42A64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6F62B4FD-9467-494F-B021-C1074EDF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DATA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D4A8F-9D16-4499-BEF5-B2E2C767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Every provider exchange terminates at a defined process and returns a user-facing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1620F-CCE9-4CF0-B169-98974400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A517E-C733-4FED-85E3-C5C59F20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bdd6525954603"/>
          <a:stretch xmlns:a="http://schemas.openxmlformats.org/drawingml/2006/main"/>
        </p:blipFill>
        <p:spPr>
          <a:xfrm xmlns:a="http://schemas.openxmlformats.org/drawingml/2006/main">
            <a:off x="1348129" y="1952625"/>
            <a:ext cx="6923991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6BBB2-847D-4BE9-97A1-A34694C2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476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2A"/>
          </a:solidFill>
          <a:ln xmlns:a="http://schemas.openxmlformats.org/drawingml/2006/main" w="9525">
            <a:solidFill>
              <a:srgbClr val="193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36BE1-5731-4649-BD32-D7E0EFBB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55A69-807E-4D2E-A5A8-A01BAA92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2019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DFD separates registration, profile, AI, health, weather/soil, and scheme processing.</a:t>
            </a:r>
          </a:p>
        </p:txBody>
      </p:sp>
    </p:spTree>
    <p:extLst>
      <p:ext uri="{BB962C8B-B14F-4D97-AF65-F5344CB8AC3E}">
        <p14:creationId xmlns:p14="http://schemas.microsoft.com/office/powerpoint/2010/main" val="15099957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3ADC78-F1CC-4EAC-811C-E0AB3245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6941A230-CE4C-4FFA-A65B-3275E3D1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5592F598-9321-4D5E-9BBF-B743651A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USE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B9964-5664-43E0-8389-EE6A6CFF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The farmer remains the primary actor across all service and recovery paths.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49CAF-41C7-403F-81D9-1CD254FF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70A76-EF95-4524-9C20-E1BC4527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aa94f24bd460b"/>
          <a:stretch xmlns:a="http://schemas.openxmlformats.org/drawingml/2006/main"/>
        </p:blipFill>
        <p:spPr>
          <a:xfrm xmlns:a="http://schemas.openxmlformats.org/drawingml/2006/main">
            <a:off x="1348129" y="1952625"/>
            <a:ext cx="6923991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B4B0A-7498-47A0-A0AC-BCF1F675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476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2A"/>
          </a:solidFill>
          <a:ln xmlns:a="http://schemas.openxmlformats.org/drawingml/2006/main" w="9525">
            <a:solidFill>
              <a:srgbClr val="193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DAF35-2DDA-42AB-9F50-8F574C7B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44372-4BFF-40B6-AAE6-66A88A8C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2019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External APIs and the database support use cases but do not become user-facing actors.</a:t>
            </a:r>
          </a:p>
        </p:txBody>
      </p:sp>
    </p:spTree>
    <p:extLst>
      <p:ext uri="{BB962C8B-B14F-4D97-AF65-F5344CB8AC3E}">
        <p14:creationId xmlns:p14="http://schemas.microsoft.com/office/powerpoint/2010/main" val="7390763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E2FC45-CAE6-474F-B862-10B90D61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099602F9-E7F2-4E5D-BE70-66D14323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61746049-1534-468F-AFE4-E6DD4C86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AE1E2-8EE4-4DDA-B5EC-F469DD82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The AI request path is deterministic even when the primary provider fails.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79673-121C-45AF-B725-BB32D4E4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9F910-D107-4C5A-9F0F-E1CCD2F8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37ee37036435f"/>
          <a:stretch xmlns:a="http://schemas.openxmlformats.org/drawingml/2006/main"/>
        </p:blipFill>
        <p:spPr>
          <a:xfrm xmlns:a="http://schemas.openxmlformats.org/drawingml/2006/main">
            <a:off x="1348129" y="1952625"/>
            <a:ext cx="6923991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C8BF-7280-4487-BA4B-1D7550DB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476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2A"/>
          </a:solidFill>
          <a:ln xmlns:a="http://schemas.openxmlformats.org/drawingml/2006/main" w="9525">
            <a:solidFill>
              <a:srgbClr val="193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B5B8D-A7FD-469E-8D66-39DC58BE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7CCA3-834E-4355-9467-150EE9EF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2019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successful response is displayed and cached; failure details remain server-side controlled.</a:t>
            </a:r>
          </a:p>
        </p:txBody>
      </p:sp>
    </p:spTree>
    <p:extLst>
      <p:ext uri="{BB962C8B-B14F-4D97-AF65-F5344CB8AC3E}">
        <p14:creationId xmlns:p14="http://schemas.microsoft.com/office/powerpoint/2010/main" val="1594548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87714E-7FE5-4682-9B63-CF5529B3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95060FDF-0A50-43EC-9674-9D62056F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05E1582A-370B-44AB-AB6C-F7BEFDE7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36CBB-FDEE-4459-9A84-3D5D1BDE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Repository ownership maps cleanly to frontend, serverless, local development, and deployment concerns.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9CEEB-B092-44D9-AA83-6891D650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A699A-3D7E-43AD-B116-A12CE5D6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F1033-2C8F-4849-BE29-55C57016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frontend/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240BF-7E03-4142-AF40-D6119780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C4D6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9F6EE-181B-4B3C-AC8E-9834834E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Pages, localization, speech, offline cache, dashboard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341AC-3B57-4D9F-8630-F104889F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api/auth/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B024F-DE04-456B-B67E-E2BF15DC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6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3315E-00B5-42C6-8C70-A450D3D5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MongoDB connection, registration, login, password 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B94BF-495C-41DB-B1B5-B958BFAA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api/*.js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2AB6B-F5E7-407F-9D0F-2DFEFC25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C4D6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370B5-AB07-4CC4-9669-BC59CBA1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04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AI, crop health, and plant health serverless proxies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22FE1-B4EC-40E0-B2D1-345B3F13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434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backend/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891F8-E610-4FE4-9D49-9CDF6D0D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434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6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F2351-5602-4DA6-84F8-FA191D5C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Local Node.js development server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2C9FCA-C6F3-4EC8-A14A-0354E59F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vercel.json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41171-381C-42AD-A664-E92DF293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2445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C4D6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4F19D-C631-45FE-8E38-5A3F8623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Static and API routing for production deployment</a:t>
            </a:r>
          </a:p>
        </p:txBody>
      </p:sp>
    </p:spTree>
    <p:extLst>
      <p:ext uri="{BB962C8B-B14F-4D97-AF65-F5344CB8AC3E}">
        <p14:creationId xmlns:p14="http://schemas.microsoft.com/office/powerpoint/2010/main" val="6415734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7F980-E6C2-4727-8422-E2BDD6FF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9A03E46C-A7EB-4802-851A-987B6183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D7D56078-1AE1-49CB-AAC2-6E5732FB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F768C-30A2-4953-9A9A-C0B387F7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Acceptance testing covers the failure paths most likely to affect a real farmer.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89589-DD5B-4268-B118-EECDB6A3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302EF-A533-4A38-8F5D-F3A493FD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C1E0A-7566-40B0-812D-329177C1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2286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281AD-0273-465E-9901-F01C8FF9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905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ACCEPTANCE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2A294-2C5E-4FC0-BEFE-4FBC7FE2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C5D6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98093-38C1-4DFA-8E4D-629B4503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047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5CE4C-2A29-46A2-B1DD-67FA5057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955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mobile, password, duplicate account, required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90485-BB50-42C0-B2D8-7B08A720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CA8E2-7312-442A-BE77-76FB77CF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047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7413A-35A6-477D-8DB9-BEB9B6F9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MongoDB login, AI fallback, health providers, weather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2D17F-FC5F-4426-9DFB-4AAE490C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C5D6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F3E5E-D628-47B8-9765-2A6C8F32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2047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986F1-DAFE-45C8-93B9-7A341B88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language persistence, voice, responsive navigation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A9701-8A6D-4366-A0D7-59244828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CE4B8-AC2E-41D0-BE28-6BF9EEE1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047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Resilience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C4D90-D71D-4818-8D2D-6241CEB4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offline shell, snapshots, reconnect prompt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5D942-4158-4AA2-8366-06E66BE0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C5D6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C1F96-040B-424F-93DF-72462D6B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2047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612B3-A5DF-4BC5-9DD2-0BA870EC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625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secret isolation, sanitization, generic login errors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C1AA1-BB4F-4F00-B0E3-616464A0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33A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33A32"/>
                </a:solidFill>
                <a:latin typeface="Aptos"/>
                <a:ea typeface="Aptos"/>
                <a:cs typeface="Aptos"/>
              </a:rPr>
              <a:t>Evidence boundary: syntax checks and documented manual acceptance; no automated test framework is claimed.</a:t>
            </a:r>
          </a:p>
        </p:txBody>
      </p:sp>
    </p:spTree>
    <p:extLst>
      <p:ext uri="{BB962C8B-B14F-4D97-AF65-F5344CB8AC3E}">
        <p14:creationId xmlns:p14="http://schemas.microsoft.com/office/powerpoint/2010/main" val="59043893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FB7911-85D1-4384-BCF3-36406C63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57954391-7D57-4F31-832D-CF7F2722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F4BB0755-9E1D-477C-AAF2-ABBCD625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5A843-BC6E-4F81-9AFF-BB46F193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Security is enforced through data minimization, secret isolation, validation, and safe failure.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E8626-D230-4E63-80EF-BDFDD423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99C1D-AE2F-4318-B10E-CE7B7DA8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F720D-3241-4868-AA26-7116E12C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4659E-1E57-45CE-83E4-0E724C3A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Credentials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AD858-AB40-4F01-977A-004A88A9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All provider and database keys are loaded from environment variables.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7D1ED-63DD-4FD0-8C53-9656E417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4543B-F1BE-41F9-A5CE-A2EA9F7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Passwords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788F8-A2DE-4084-A63B-C6179A3B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Salted PBKDF2 hashes replace plaintext storage and timing-safe comparison reduces leakage.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073E1-DCEB-4C52-9A6E-C59C4A38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A0D94-34D7-4128-A352-87D70081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E652C-F7F5-4A53-8D7D-6B743424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Password fields are removed before any profile is returned to the browser.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6CEC6-B8A0-4B9B-BEBF-601C42BA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E"/>
          </a:solidFill>
          <a:ln xmlns:a="http://schemas.openxmlformats.org/drawingml/2006/main" w="9525">
            <a:solidFill>
              <a:srgbClr val="A3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82E76-C1AF-4DC4-9E21-88E6BB22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33A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33A32"/>
                </a:solidFill>
                <a:latin typeface="Aptos"/>
                <a:ea typeface="Aptos"/>
                <a:cs typeface="Aptos"/>
              </a:rPr>
              <a:t>Failures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82503-361A-465B-97A7-C7629AC0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Readable errors avoid exposing server configuration or raw provider credentials.</a:t>
            </a:r>
          </a:p>
        </p:txBody>
      </p:sp>
    </p:spTree>
    <p:extLst>
      <p:ext uri="{BB962C8B-B14F-4D97-AF65-F5344CB8AC3E}">
        <p14:creationId xmlns:p14="http://schemas.microsoft.com/office/powerpoint/2010/main" val="30172891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0F7CF2-9D1E-4DB0-B941-6D6F92E1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16D26A36-378C-4468-B0DA-58323FA1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F16A0241-C355-484A-BC0E-9A4284D8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ABC00-EE2E-467E-8E8C-8A369749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The next version should turn a strong prototype into a measured production service.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EDF05-0AB7-4EE3-A20E-8325B55B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0A437-3BB7-477B-9207-A70E3040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6E9C4-7B24-43B4-A241-B1E98B31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2F5A1-8801-40C5-A608-F9FEE49C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955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C971C-417B-4D3B-9947-C1FA154D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1945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Working responsive PWA, serverless APIs, MongoDB 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DD43B-4943-410D-B962-DD5A12B0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38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8C413-3379-40C8-8738-16463EBA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24125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31843-AB4B-402A-B5C0-2AA03CFD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955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D201B-DA6A-427E-88C1-F68A8753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1945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Automated unit/integration suite, token-based sessions, rate limiting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F73C0-B675-41ED-ACBD-6D0279E7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C5119-3F6A-49D6-85A1-10CFB827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C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8C60A-7262-471F-8933-C73D0A1F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955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60DDA-E49B-4ECD-AEBA-9031D2CF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1945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52A"/>
                </a:solidFill>
                <a:latin typeface="Aptos"/>
                <a:ea typeface="Aptos"/>
                <a:cs typeface="Aptos"/>
              </a:rPr>
              <a:t>Agronomist-reviewed knowledge base, analytics, audited diagnosis 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76B39-4555-47DB-8F4F-3A9AE42D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38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43569-9DCC-4E40-8C84-47A0897C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24125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3A"/>
          </a:solidFill>
          <a:ln xmlns:a="http://schemas.openxmlformats.org/drawingml/2006/main" w="9525">
            <a:solidFill>
              <a:srgbClr val="176B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B8495-4122-4655-BD3C-898ABF77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955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2F142-709D-477E-90C2-AC8ACC20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1945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Role-based administration, alerting, observability, consent controls</a:t>
            </a:r>
          </a:p>
        </p:txBody>
      </p:sp>
    </p:spTree>
    <p:extLst>
      <p:ext uri="{BB962C8B-B14F-4D97-AF65-F5344CB8AC3E}">
        <p14:creationId xmlns:p14="http://schemas.microsoft.com/office/powerpoint/2010/main" val="76742447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1267A-581F-4B15-B4B3-229B8BA3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F7FAF7"/>
            </a:solidFill>
            <a:prstDash val="solid"/>
          </a:ln>
        </p:spPr>
      </p:sp>
      <p:sp>
        <p:nvSpPr>
          <p:cNvPr id="2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25AD03BE-AB66-49A4-BE67-9958C4BA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2D"/>
          </a:solidFill>
          <a:ln xmlns:a="http://schemas.openxmlformats.org/drawingml/2006/main" w="9525">
            <a:solidFill>
              <a:srgbClr val="D09A2D"/>
            </a:solidFill>
            <a:prstDash val="solid"/>
          </a:ln>
        </p:spPr>
      </p:sp>
      <p:sp>
        <p:nvSpPr>
          <p:cNvPr id="3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BAC33CA2-7FBC-4F56-B0F3-612564B6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74387-39C8-4266-A573-23D5A325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9352A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9352A"/>
                </a:solidFill>
                <a:latin typeface="Aptos"/>
                <a:ea typeface="Aptos"/>
                <a:cs typeface="Aptos"/>
              </a:rPr>
              <a:t>KrishiGyaan demonstrates the complete BCA project lifecycle in one practical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3C439-3001-4481-87D8-CA20D0F5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KRISHIGYAAN  |  BCA FINAL YEAR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A0D95-1459-4D63-B46B-2E997F85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27476-89A6-4FF0-862B-98268003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B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3A"/>
                </a:solidFill>
                <a:latin typeface="Aptos"/>
                <a:ea typeface="Aptos"/>
                <a:cs typeface="Aptos"/>
              </a:rPr>
              <a:t>Requirements • Design • Development • Database • APIs • Testing •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FE49A-3426-46AC-BFFC-8E9B81AF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43250"/>
            <a:ext cx="904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2A"/>
          </a:solidFill>
          <a:ln xmlns:a="http://schemas.openxmlformats.org/drawingml/2006/main" w="9525">
            <a:solidFill>
              <a:srgbClr val="193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21DC7-5636-4C59-9A51-D85020FA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33750"/>
            <a:ext cx="8286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practical system. A traceable design. An honest evaluation.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E936F-67D3-4CBD-96A6-86AC29FF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00500"/>
            <a:ext cx="828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09A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09A2D"/>
                </a:solidFill>
                <a:latin typeface="Aptos"/>
                <a:ea typeface="Aptos"/>
                <a:cs typeface="Aptos"/>
              </a:rPr>
              <a:t>Questions and Viva Discussion</a:t>
            </a:r>
          </a:p>
        </p:txBody>
      </p:sp>
    </p:spTree>
    <p:extLst>
      <p:ext uri="{BB962C8B-B14F-4D97-AF65-F5344CB8AC3E}">
        <p14:creationId xmlns:p14="http://schemas.microsoft.com/office/powerpoint/2010/main" val="165464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2026-06-06T10:27:06.2820000Z</dcterms:created>
  <dcterms:modified xsi:type="dcterms:W3CDTF">2026-06-06T10:27:06.2820000Z</dcterms:modified>
</coreProperties>
</file>